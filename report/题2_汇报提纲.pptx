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BFCFE0"/>
                </a:solidFill>
                <a:latin typeface="微软雅黑"/>
              </a:rPr>
              <a:t>《Python 数据分析编程》课程项目汇报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车辆物联网遥测数据分析与告警识别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154680"/>
            <a:ext cx="2011680" cy="38100"/>
          </a:xfrm>
          <a:prstGeom prst="rect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D5DFEA"/>
                </a:solidFill>
                <a:latin typeface="微软雅黑"/>
              </a:rPr>
              <a:t>173,853 条车载遥测 → 清洗与宽表 → 运行画像 → 告警语义 → 建模评估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FB3C8"/>
                </a:solidFill>
                <a:latin typeface="微软雅黑"/>
              </a:rPr>
              <a:t>题目二　|　第 19 组　|　成员：周泽林　郭德宇　钟子恒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一、问题与数据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8D6E4"/>
                </a:solidFill>
                <a:latin typeface="微软雅黑"/>
              </a:rPr>
              <a:t>长表 + 多频率 + 事件驱动：车联网数据的三个“难”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500">
                <a:solidFill>
                  <a:srgbClr val="555F6B"/>
                </a:solidFill>
                <a:latin typeface="微软雅黑"/>
              </a:rPr>
              <a:t>▪ 规模：173,853 行 6 列，3 台设备、52 种变量，7.5 天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500">
                <a:solidFill>
                  <a:srgbClr val="555F6B"/>
                </a:solidFill>
                <a:latin typeface="微软雅黑"/>
              </a:rPr>
              <a:t>▪ 结构：长表（每行一个“变量—取值”），定位为“纬度,经度,海拔”字符串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500">
                <a:solidFill>
                  <a:srgbClr val="555F6B"/>
                </a:solidFill>
                <a:latin typeface="微软雅黑"/>
              </a:rPr>
              <a:t>▪ 稀疏：按(设备,时间戳)透视后填充率仅 9.0%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500">
                <a:solidFill>
                  <a:srgbClr val="555F6B"/>
                </a:solidFill>
                <a:latin typeface="微软雅黑"/>
              </a:rPr>
              <a:t>▪ 标签：alarmClass 附着在单条读数上（0 正常，1–5 告警）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500">
                <a:solidFill>
                  <a:srgbClr val="555F6B"/>
                </a:solidFill>
                <a:latin typeface="微软雅黑"/>
              </a:rPr>
              <a:t>▪ 目标：清洗规整 → 还原运行状态 → 解释告警成因 → 建模识别与评估</a:t>
            </a:r>
          </a:p>
        </p:txBody>
      </p:sp>
      <p:pic>
        <p:nvPicPr>
          <p:cNvPr id="6" name="Picture 5" descr="fig01_数据概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394960" cy="33824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题目二　车辆物联网遥测数据分析与告警识别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二、技术路线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8D6E4"/>
                </a:solidFill>
                <a:latin typeface="微软雅黑"/>
              </a:rPr>
              <a:t>一步一脚本，指标全部落盘，可一键复现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965960" cy="1143000"/>
          </a:xfrm>
          <a:prstGeom prst="roundRect">
            <a:avLst/>
          </a:prstGeom>
          <a:solidFill>
            <a:srgbClr val="F3F5F8"/>
          </a:solidFill>
          <a:ln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B57"/>
                </a:solidFill>
                <a:latin typeface="微软雅黑"/>
              </a:rPr>
              <a:t>原始长表</a:t>
            </a:r>
          </a:p>
          <a:p>
            <a:pPr algn="ctr"/>
            <a:r>
              <a:rPr sz="1100" b="0">
                <a:solidFill>
                  <a:srgbClr val="555F6B"/>
                </a:solidFill>
                <a:latin typeface="微软雅黑"/>
              </a:rPr>
              <a:t>173,853 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737360"/>
            <a:ext cx="1965960" cy="1143000"/>
          </a:xfrm>
          <a:prstGeom prst="roundRect">
            <a:avLst/>
          </a:prstGeom>
          <a:solidFill>
            <a:srgbClr val="F3F5F8"/>
          </a:solidFill>
          <a:ln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B57"/>
                </a:solidFill>
                <a:latin typeface="微软雅黑"/>
              </a:rPr>
              <a:t>清洗规整</a:t>
            </a:r>
          </a:p>
          <a:p>
            <a:pPr algn="ctr"/>
            <a:r>
              <a:rPr sz="1100" b="0">
                <a:solidFill>
                  <a:srgbClr val="555F6B"/>
                </a:solidFill>
                <a:latin typeface="微软雅黑"/>
              </a:rPr>
              <a:t>拆分/置空/类型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737360"/>
            <a:ext cx="1965960" cy="1143000"/>
          </a:xfrm>
          <a:prstGeom prst="roundRect">
            <a:avLst/>
          </a:prstGeom>
          <a:solidFill>
            <a:srgbClr val="F3F5F8"/>
          </a:solidFill>
          <a:ln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B57"/>
                </a:solidFill>
                <a:latin typeface="微软雅黑"/>
              </a:rPr>
              <a:t>长表转宽表</a:t>
            </a:r>
          </a:p>
          <a:p>
            <a:pPr algn="ctr"/>
            <a:r>
              <a:rPr sz="1100" b="0">
                <a:solidFill>
                  <a:srgbClr val="555F6B"/>
                </a:solidFill>
                <a:latin typeface="微软雅黑"/>
              </a:rPr>
              <a:t>时间戳·1min·5min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37360"/>
            <a:ext cx="1965960" cy="1143000"/>
          </a:xfrm>
          <a:prstGeom prst="roundRect">
            <a:avLst/>
          </a:prstGeom>
          <a:solidFill>
            <a:srgbClr val="F3F5F8"/>
          </a:solidFill>
          <a:ln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B57"/>
                </a:solidFill>
                <a:latin typeface="微软雅黑"/>
              </a:rPr>
              <a:t>探索分析</a:t>
            </a:r>
          </a:p>
          <a:p>
            <a:pPr algn="ctr"/>
            <a:r>
              <a:rPr sz="1100" b="0">
                <a:solidFill>
                  <a:srgbClr val="555F6B"/>
                </a:solidFill>
                <a:latin typeface="微软雅黑"/>
              </a:rPr>
              <a:t>画像·相关·时序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737360"/>
            <a:ext cx="1965960" cy="1143000"/>
          </a:xfrm>
          <a:prstGeom prst="roundRect">
            <a:avLst/>
          </a:prstGeom>
          <a:solidFill>
            <a:srgbClr val="F3F5F8"/>
          </a:solidFill>
          <a:ln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B57"/>
                </a:solidFill>
                <a:latin typeface="微软雅黑"/>
              </a:rPr>
              <a:t>告警识别</a:t>
            </a:r>
          </a:p>
          <a:p>
            <a:pPr algn="ctr"/>
            <a:r>
              <a:rPr sz="1100" b="0">
                <a:solidFill>
                  <a:srgbClr val="555F6B"/>
                </a:solidFill>
                <a:latin typeface="微软雅黑"/>
              </a:rPr>
              <a:t>片段·语义·阈值</a:t>
            </a:r>
          </a:p>
        </p:txBody>
      </p:sp>
      <p:sp>
        <p:nvSpPr>
          <p:cNvPr id="10" name="Can 9"/>
          <p:cNvSpPr/>
          <p:nvPr/>
        </p:nvSpPr>
        <p:spPr>
          <a:xfrm>
            <a:off x="2514600" y="2148840"/>
            <a:ext cx="256032" cy="274320"/>
          </a:xfrm>
          <a:prstGeom prst="can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n 10"/>
          <p:cNvSpPr/>
          <p:nvPr/>
        </p:nvSpPr>
        <p:spPr>
          <a:xfrm>
            <a:off x="4754880" y="2148840"/>
            <a:ext cx="256032" cy="274320"/>
          </a:xfrm>
          <a:prstGeom prst="can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n 11"/>
          <p:cNvSpPr/>
          <p:nvPr/>
        </p:nvSpPr>
        <p:spPr>
          <a:xfrm>
            <a:off x="6995160" y="2148840"/>
            <a:ext cx="256032" cy="274320"/>
          </a:xfrm>
          <a:prstGeom prst="can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 12"/>
          <p:cNvSpPr/>
          <p:nvPr/>
        </p:nvSpPr>
        <p:spPr>
          <a:xfrm>
            <a:off x="9235440" y="2148840"/>
            <a:ext cx="256032" cy="274320"/>
          </a:xfrm>
          <a:prstGeom prst="can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500">
                <a:solidFill>
                  <a:srgbClr val="555F6B"/>
                </a:solidFill>
                <a:latin typeface="微软雅黑"/>
              </a:rPr>
              <a:t>▪ 四组实验：A 读数级多分类（A2 去变量身份）/ B 留一设备泛化 / C 无监督一致性 / D 提前预警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500">
                <a:solidFill>
                  <a:srgbClr val="555F6B"/>
                </a:solidFill>
                <a:latin typeface="微软雅黑"/>
              </a:rPr>
              <a:t>▪ 环境：Python 3.14 + pandas 3.0 + scikit-learn 1.9，全流程约 1 分钟，指标写入 output/metrics.json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500">
                <a:solidFill>
                  <a:srgbClr val="555F6B"/>
                </a:solidFill>
                <a:latin typeface="微软雅黑"/>
              </a:rPr>
              <a:t>▪ 报告 39 页、18 图、18 表；正文数字均由 metrics.json 读取，保证可复现一致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题目二　车辆物联网遥测数据分析与告警识别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19088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三、数据清洗：把“脏且散”变成可用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8D6E4"/>
                </a:solidFill>
                <a:latin typeface="微软雅黑"/>
              </a:rPr>
              <a:t>原则：可疑值置空而非整行删除，保留同刻其他信号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timeMili 缺失 121,651（70%）→ 由 timestamp 重建，两列一致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定位 90,355 条按逗号拆三列；10,517 条越界置空（11.6%）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删除错标变量 PIDNameNotAvailable（29 条，取值为定位串）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物理范围校验：转速 &gt;8000、模块电压 &lt;8V 等 104 条置空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清洗后有效读数 83,359 条、定位 79,838 条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关键发现：车-NAB0gBAQ 定位 81.4% 为 0 → 该车不做轨迹/里程分析</a:t>
            </a:r>
          </a:p>
        </p:txBody>
      </p:sp>
      <p:pic>
        <p:nvPicPr>
          <p:cNvPr id="6" name="Picture 5" descr="fig03_轨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37360"/>
            <a:ext cx="5440680" cy="31573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507492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微软雅黑"/>
              </a:rPr>
              <a:t>轨迹呈“同一地点反复环绕”的短途特征（数据集主体位于印度卡纳塔克邦一带），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微软雅黑"/>
              </a:rPr>
              <a:t>对应车-twB1gBAQ 与车-GAB0gBAQ 的活动范围。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题目二　车辆物联网遥测数据分析与告警识别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四、长表转宽表：两种口径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8D6E4"/>
                </a:solidFill>
                <a:latin typeface="微软雅黑"/>
              </a:rPr>
              <a:t>先对齐、再聚合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852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时间戳级：18,532 行 × 52 列，填充率 9.0%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连续信号同设备前向填充（≤12 步）→ 可用率提升到 19.6%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周期聚合：1 min 6,201 个窗口 / 5 min 1,410 个窗口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每窗口附：均值·极值·标准差、GPS 里程与海拔、告警标签（各类别是否出现）、小时/星期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注意：5 min 窗口中也只有 15.0% 含车速读数——采样稀疏的真实代价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→ 建模主战场放在“读数级”，窗口级仅用于趋势与预警实验</a:t>
            </a:r>
          </a:p>
        </p:txBody>
      </p:sp>
      <p:pic>
        <p:nvPicPr>
          <p:cNvPr id="6" name="Picture 5" descr="fig04_车速转速时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5303520" cy="3446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489204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微软雅黑"/>
              </a:rPr>
              <a:t>2020-08-17：车速读数只出现在 10—11 时、14—17 时与 19 时，其余时间无 OBD 记录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微软雅黑"/>
              </a:rPr>
              <a:t>（事件驱动上报，熄火停放时仅定位工作）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题目二　车辆物联网遥测数据分析与告警识别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五、三台车，三种用车画像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8D6E4"/>
                </a:solidFill>
                <a:latin typeface="微软雅黑"/>
              </a:rPr>
              <a:t>结论必须分设备讨论</a:t>
            </a:r>
          </a:p>
        </p:txBody>
      </p:sp>
      <p:pic>
        <p:nvPicPr>
          <p:cNvPr id="5" name="Picture 4" descr="fig06_设备特征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6903720" cy="52251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28016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743B"/>
                </a:solidFill>
                <a:latin typeface="微软雅黑"/>
              </a:rPr>
              <a:t>车-GAB0gBAQ　高速长途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600200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均速 35.15 km/h，高速占 22.5%，日均 35.51 km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51460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743B"/>
                </a:solidFill>
                <a:latin typeface="微软雅黑"/>
              </a:rPr>
              <a:t>车-NAB0gBAQ　城市起停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834640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怠速 35.6%、低速 31.7%，均速 15.65 km/h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749039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743B"/>
                </a:solidFill>
                <a:latin typeface="微软雅黑"/>
              </a:rPr>
              <a:t>车-twB1gBAQ　短途停放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4069080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熄火/静止占 52.3%，均速 15.56 km/h，日均 28.41 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983480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77808A"/>
                </a:solidFill>
                <a:latin typeface="微软雅黑"/>
              </a:rPr>
              <a:t>车速—转速 Spearman 相关 0.74；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77808A"/>
                </a:solidFill>
                <a:latin typeface="微软雅黑"/>
              </a:rPr>
              <a:t>纵向与垂向加速度弱负相关（加速抬头/减速点头）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题目二　车辆物联网遥测数据分析与告警识别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19088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六、告警是什么？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8D6E4"/>
                </a:solidFill>
                <a:latin typeface="微软雅黑"/>
              </a:rPr>
              <a:t>48.3% 读数带告警 → 实为“分级驾驶行为/工况”标签</a:t>
            </a:r>
          </a:p>
        </p:txBody>
      </p:sp>
      <p:pic>
        <p:nvPicPr>
          <p:cNvPr id="5" name="Picture 4" descr="fig09_告警信号分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6035040" cy="47677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2344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743B"/>
                </a:solidFill>
                <a:latin typeface="微软雅黑"/>
              </a:rPr>
              <a:t>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2344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B57"/>
                </a:solidFill>
                <a:latin typeface="微软雅黑"/>
              </a:rPr>
              <a:t>低速强冲击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536192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微软雅黑"/>
              </a:rPr>
              <a:t>车速 7.6｜横向 −8.7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743B"/>
                </a:solidFill>
                <a:latin typeface="微软雅黑"/>
              </a:rPr>
              <a:t>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B57"/>
                </a:solidFill>
                <a:latin typeface="微软雅黑"/>
              </a:rPr>
              <a:t>中低速工况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404872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微软雅黑"/>
              </a:rPr>
              <a:t>车速 23.9｜节气门通道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71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743B"/>
                </a:solidFill>
                <a:latin typeface="微软雅黑"/>
              </a:rPr>
              <a:t>C3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71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B57"/>
                </a:solidFill>
                <a:latin typeface="微软雅黑"/>
              </a:rPr>
              <a:t>中高速加速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73552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微软雅黑"/>
              </a:rPr>
              <a:t>车速 49.8｜纵向 +1.0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840479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743B"/>
                </a:solidFill>
                <a:latin typeface="微软雅黑"/>
              </a:rPr>
              <a:t>C4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40479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B57"/>
                </a:solidFill>
                <a:latin typeface="微软雅黑"/>
              </a:rPr>
              <a:t>高速高负荷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142231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微软雅黑"/>
              </a:rPr>
              <a:t>车速 62.1｜转速 2324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70916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743B"/>
                </a:solidFill>
                <a:latin typeface="微软雅黑"/>
              </a:rPr>
              <a:t>C5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7091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B57"/>
                </a:solidFill>
                <a:latin typeface="微软雅黑"/>
              </a:rPr>
              <a:t>熄火静止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010912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微软雅黑"/>
              </a:rPr>
              <a:t>IGNITION/IDLING=0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806440"/>
            <a:ext cx="4023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77808A"/>
                </a:solidFill>
                <a:latin typeface="微软雅黑"/>
              </a:rPr>
              <a:t>阈值几乎可“读出”：车速&lt;20→C1，20–30→C2，50–60→C3/C4，&gt;80→C4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题目二　车辆物联网遥测数据分析与告警识别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19088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七、告警与运行状态、事件片段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8D6E4"/>
                </a:solidFill>
                <a:latin typeface="微软雅黑"/>
              </a:rPr>
              <a:t>1,078 段告警片段，高等级集中在午后高峰</a:t>
            </a:r>
          </a:p>
        </p:txBody>
      </p:sp>
      <p:pic>
        <p:nvPicPr>
          <p:cNvPr id="5" name="Picture 4" descr="fig11_告警与运行状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949440" cy="3009072"/>
          </a:xfrm>
          <a:prstGeom prst="rect">
            <a:avLst/>
          </a:prstGeom>
        </p:spPr>
      </p:pic>
      <p:pic>
        <p:nvPicPr>
          <p:cNvPr id="6" name="Picture 5" descr="fig13_告警片段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188720"/>
            <a:ext cx="4206240" cy="29656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4343400"/>
            <a:ext cx="6858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车速 &gt;50 km/h 的读数 100% 带告警（C3 22.3% / C4 77.7%）；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告警读数相对前 5 分钟：C3 车速 +40、转速 +1149；C1 车速 -16；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各片段中位时长 0–5 分钟，C4 片段集中在 14–19 时 → 高风险时段可预判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4224528"/>
            <a:ext cx="4389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C3 片段最多（491 段），C5 最长（p90 27.9 分钟）；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车-twB1gBAQ 931 段，14 时最多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题目二　车辆物联网遥测数据分析与告警识别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八、建模：能识别，但不等于“懂车”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8D6E4"/>
                </a:solidFill>
                <a:latin typeface="微软雅黑"/>
              </a:rPr>
              <a:t>读数级 6 分类 + 三组检验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37490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1249679"/>
                <a:gridCol w="1249681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模型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准确率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宏 F1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6B"/>
                          </a:solidFill>
                          <a:latin typeface="微软雅黑"/>
                        </a:rPr>
                        <a:t>多数类基线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6B"/>
                          </a:solidFill>
                          <a:latin typeface="微软雅黑"/>
                        </a:rPr>
                        <a:t>0.517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6B"/>
                          </a:solidFill>
                          <a:latin typeface="微软雅黑"/>
                        </a:rPr>
                        <a:t>0.114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6B"/>
                          </a:solidFill>
                          <a:latin typeface="微软雅黑"/>
                        </a:rPr>
                        <a:t>逻辑回归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6B"/>
                          </a:solidFill>
                          <a:latin typeface="微软雅黑"/>
                        </a:rPr>
                        <a:t>0.910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6B"/>
                          </a:solidFill>
                          <a:latin typeface="微软雅黑"/>
                        </a:rPr>
                        <a:t>0.895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6B"/>
                          </a:solidFill>
                          <a:latin typeface="微软雅黑"/>
                        </a:rPr>
                        <a:t>随机森林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6B"/>
                          </a:solidFill>
                          <a:latin typeface="微软雅黑"/>
                        </a:rPr>
                        <a:t>0.992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6B"/>
                          </a:solidFill>
                          <a:latin typeface="微软雅黑"/>
                        </a:rPr>
                        <a:t>0.989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6B"/>
                          </a:solidFill>
                          <a:latin typeface="微软雅黑"/>
                        </a:rPr>
                        <a:t>梯度提升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6B"/>
                          </a:solidFill>
                          <a:latin typeface="微软雅黑"/>
                        </a:rPr>
                        <a:t>0.995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6B"/>
                          </a:solidFill>
                          <a:latin typeface="微软雅黑"/>
                        </a:rPr>
                        <a:t>0.992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794760"/>
            <a:ext cx="4206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150">
                <a:solidFill>
                  <a:srgbClr val="555F6B"/>
                </a:solidFill>
                <a:latin typeface="微软雅黑"/>
              </a:rPr>
              <a:t>▪ 去掉变量身份 → 随机森林仍 0.962、逻辑回归仅 0.412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150">
                <a:solidFill>
                  <a:srgbClr val="555F6B"/>
                </a:solidFill>
                <a:latin typeface="微软雅黑"/>
              </a:rPr>
              <a:t>▪ 留一设备 → 宏 F1 降到 0.53–0.66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150">
                <a:solidFill>
                  <a:srgbClr val="555F6B"/>
                </a:solidFill>
                <a:latin typeface="微软雅黑"/>
              </a:rPr>
              <a:t>▪ 时间+事件隔离 → 宏 F1 0.758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150">
                <a:solidFill>
                  <a:srgbClr val="555F6B"/>
                </a:solidFill>
                <a:latin typeface="微软雅黑"/>
              </a:rPr>
              <a:t>▪ 结论：高精度来自“复现规则通道”</a:t>
            </a:r>
          </a:p>
        </p:txBody>
      </p:sp>
      <p:pic>
        <p:nvPicPr>
          <p:cNvPr id="7" name="Picture 6" descr="fig15_混淆矩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34440"/>
            <a:ext cx="7040880" cy="34637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题目二　车辆物联网遥测数据分析与告警识别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九、两个“反直觉”的检验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8D6E4"/>
                </a:solidFill>
                <a:latin typeface="微软雅黑"/>
              </a:rPr>
              <a:t>统计异常 ≠ 业务告警；预警只有弱信号</a:t>
            </a:r>
          </a:p>
        </p:txBody>
      </p:sp>
      <p:pic>
        <p:nvPicPr>
          <p:cNvPr id="5" name="Picture 4" descr="fig17_异常一致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760720" cy="2462193"/>
          </a:xfrm>
          <a:prstGeom prst="rect">
            <a:avLst/>
          </a:prstGeom>
        </p:spPr>
      </p:pic>
      <p:pic>
        <p:nvPicPr>
          <p:cNvPr id="6" name="Picture 5" descr="fig18_提前预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577840" cy="24449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4800600"/>
            <a:ext cx="5669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3σ 异常点对告警的精确率 0–100%（多数变量 ≥90%），召回率仅 0.2%–7.7%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→ 极端值几乎必被规则捕获，但业务告警多来自“正常范围内的越阈值”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709160"/>
            <a:ext cx="56692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过去 10 min → 未来 10 min 是否出现 C4 片段：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逻辑回归 AUC 0.733（严格 0.729）、F1 0.435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→ 弱可用：宜作风险评分，与规则串联使用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题目二　车辆物联网遥测数据分析与告警识别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十、结论与建议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8D6E4"/>
                </a:solidFill>
                <a:latin typeface="微软雅黑"/>
              </a:rPr>
              <a:t>给业务可落地的四件事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数据：事件驱动上报导致稀疏（时间戳级填充率 9%），定位脏数据 11.6%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画像：高速长途 / 城市起停 / 短途停放三类，告警率 30%–58% 差异显著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告警：分级行为标签，1078 段事件；等级与车速、转速、加速度正相关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555F6B"/>
                </a:solidFill>
                <a:latin typeface="微软雅黑"/>
              </a:rPr>
              <a:t>▪ 建模：读数级宏 F1 0.992，跨设备 0.53–0.66；预警 AUC 0.7327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303520" cy="4663440"/>
          </a:xfrm>
          <a:prstGeom prst="roundRect">
            <a:avLst/>
          </a:prstGeom>
          <a:solidFill>
            <a:srgbClr val="F3F5F8"/>
          </a:solidFill>
          <a:ln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lnSpc>
                <a:spcPct val="135000"/>
              </a:lnSpc>
              <a:spcAft>
                <a:spcPts val="1600"/>
              </a:spcAft>
            </a:pPr>
            <a:r>
              <a:rPr sz="1400">
                <a:solidFill>
                  <a:srgbClr val="1F3B57"/>
                </a:solidFill>
                <a:latin typeface="微软雅黑"/>
              </a:rPr>
              <a:t>① 告警分层：C5 熄火改“状态标记”，释放 6.9% 告警通道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400">
                <a:solidFill>
                  <a:srgbClr val="1F3B57"/>
                </a:solidFill>
                <a:latin typeface="微软雅黑"/>
              </a:rPr>
              <a:t>② 提速采样：车速/转速/加速度改 1–5 秒定频上报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400">
                <a:solidFill>
                  <a:srgbClr val="1F3B57"/>
                </a:solidFill>
                <a:latin typeface="微软雅黑"/>
              </a:rPr>
              <a:t>③ 跨车建模先对齐：新车先跑 1–2 天“只评估不告警”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400">
                <a:solidFill>
                  <a:srgbClr val="1F3B57"/>
                </a:solidFill>
                <a:latin typeface="微软雅黑"/>
              </a:rPr>
              <a:t>④ 驾驶风险分：片段数 × 等级权重 ÷ 里程，优先管控高风险车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题目二　车辆物联网遥测数据分析与告警识别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十一、分工与致谢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8D6E4"/>
                </a:solidFill>
                <a:latin typeface="微软雅黑"/>
              </a:rPr>
              <a:t>模块负责 + 交叉复核，Git 分支与分工一一对应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成员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负责模块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对应分支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555F6B"/>
                          </a:solidFill>
                          <a:latin typeface="微软雅黑"/>
                        </a:rPr>
                        <a:t>周泽林（组长）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55F6B"/>
                          </a:solidFill>
                          <a:latin typeface="微软雅黑"/>
                        </a:rPr>
                        <a:t>数据工程与清洗（prepare / common）、报告第 2–3 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55F6B"/>
                          </a:solidFill>
                          <a:latin typeface="微软雅黑"/>
                        </a:rPr>
                        <a:t>feature/data-pipeline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555F6B"/>
                          </a:solidFill>
                          <a:latin typeface="微软雅黑"/>
                        </a:rPr>
                        <a:t>郭德宇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55F6B"/>
                          </a:solidFill>
                          <a:latin typeface="微软雅黑"/>
                        </a:rPr>
                        <a:t>探索与告警分析（eda / alarm）、报告第 4–5 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55F6B"/>
                          </a:solidFill>
                          <a:latin typeface="微软雅黑"/>
                        </a:rPr>
                        <a:t>feature/eda-alarm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555F6B"/>
                          </a:solidFill>
                          <a:latin typeface="微软雅黑"/>
                        </a:rPr>
                        <a:t>钟子恒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55F6B"/>
                          </a:solidFill>
                          <a:latin typeface="微软雅黑"/>
                        </a:rPr>
                        <a:t>建模评估与报告排版（model / build_report）、汇报视频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55F6B"/>
                          </a:solidFill>
                          <a:latin typeface="微软雅黑"/>
                        </a:rPr>
                        <a:t>feature/modeling-report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6118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F6B"/>
                </a:solidFill>
                <a:latin typeface="微软雅黑"/>
              </a:rPr>
              <a:t>复现方式：python run_all.py（约 1 分钟）　|　仓库：https://github.com/337437745-collab/vehicle_analysis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F6B"/>
                </a:solidFill>
                <a:latin typeface="微软雅黑"/>
              </a:rPr>
              <a:t>报告：report/题2_车辆物联网遥测数据分析与告警识别_报告.docx（39 页 / 18 图 / 18 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E8743B"/>
                </a:solidFill>
                <a:latin typeface="微软雅黑"/>
              </a:rPr>
              <a:t>谢谢各位老师与同学，欢迎提问！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题目二　车辆物联网遥测数据分析与告警识别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99A3AE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